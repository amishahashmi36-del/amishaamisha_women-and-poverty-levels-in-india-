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Lst>
  <p:sldSz cx="18288000" cy="10287000"/>
  <p:notesSz cx="6858000" cy="9144000"/>
  <p:embeddedFontLst>
    <p:embeddedFont>
      <p:font typeface="Arial Black" panose="020B0A04020102020204" pitchFamily="34" charset="0"/>
      <p:bold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2A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71" d="100"/>
          <a:sy n="71" d="100"/>
        </p:scale>
        <p:origin x="7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solidFill>
                  <a:srgbClr val="F22AA1"/>
                </a:solidFill>
                <a:latin typeface="Arial Black" panose="020B0A04020102020204" pitchFamily="34" charset="0"/>
              </a:rPr>
              <a:t>Gender Inequality Index (GII)</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Gender Inequality Index (GII)</c:v>
                </c:pt>
              </c:strCache>
            </c:strRef>
          </c:tx>
          <c:spPr>
            <a:solidFill>
              <a:srgbClr val="F22AA1"/>
            </a:solidFill>
            <a:ln>
              <a:noFill/>
            </a:ln>
            <a:effectLst/>
          </c:spPr>
          <c:invertIfNegative val="0"/>
          <c:cat>
            <c:numRef>
              <c:f>Sheet1!$A$2:$A$8</c:f>
              <c:numCache>
                <c:formatCode>General</c:formatCode>
                <c:ptCount val="7"/>
                <c:pt idx="0">
                  <c:v>2015</c:v>
                </c:pt>
                <c:pt idx="1">
                  <c:v>2017</c:v>
                </c:pt>
                <c:pt idx="2">
                  <c:v>2019</c:v>
                </c:pt>
                <c:pt idx="3">
                  <c:v>2020</c:v>
                </c:pt>
                <c:pt idx="4">
                  <c:v>2021</c:v>
                </c:pt>
                <c:pt idx="5">
                  <c:v>2023</c:v>
                </c:pt>
                <c:pt idx="6">
                  <c:v>2025</c:v>
                </c:pt>
              </c:numCache>
            </c:numRef>
          </c:cat>
          <c:val>
            <c:numRef>
              <c:f>Sheet1!$B$2:$B$8</c:f>
              <c:numCache>
                <c:formatCode>General</c:formatCode>
                <c:ptCount val="7"/>
                <c:pt idx="0">
                  <c:v>0.54</c:v>
                </c:pt>
                <c:pt idx="1">
                  <c:v>0.52500000000000002</c:v>
                </c:pt>
                <c:pt idx="2">
                  <c:v>0.48499999999999999</c:v>
                </c:pt>
                <c:pt idx="3">
                  <c:v>0.48699999999999999</c:v>
                </c:pt>
                <c:pt idx="4">
                  <c:v>0.47499999999999998</c:v>
                </c:pt>
                <c:pt idx="5">
                  <c:v>0.47</c:v>
                </c:pt>
                <c:pt idx="6">
                  <c:v>0.45500000000000002</c:v>
                </c:pt>
              </c:numCache>
            </c:numRef>
          </c:val>
          <c:extLst>
            <c:ext xmlns:c16="http://schemas.microsoft.com/office/drawing/2014/chart" uri="{C3380CC4-5D6E-409C-BE32-E72D297353CC}">
              <c16:uniqueId val="{00000000-AA7D-4B1C-A821-B481C15C2987}"/>
            </c:ext>
          </c:extLst>
        </c:ser>
        <c:dLbls>
          <c:showLegendKey val="0"/>
          <c:showVal val="0"/>
          <c:showCatName val="0"/>
          <c:showSerName val="0"/>
          <c:showPercent val="0"/>
          <c:showBubbleSize val="0"/>
        </c:dLbls>
        <c:gapWidth val="219"/>
        <c:overlap val="-27"/>
        <c:axId val="611731712"/>
        <c:axId val="611732672"/>
      </c:barChart>
      <c:catAx>
        <c:axId val="611731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1732672"/>
        <c:crosses val="autoZero"/>
        <c:auto val="1"/>
        <c:lblAlgn val="ctr"/>
        <c:lblOffset val="100"/>
        <c:noMultiLvlLbl val="0"/>
      </c:catAx>
      <c:valAx>
        <c:axId val="611732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1731712"/>
        <c:crosses val="autoZero"/>
        <c:crossBetween val="between"/>
      </c:valAx>
      <c:spPr>
        <a:noFill/>
        <a:ln>
          <a:noFill/>
        </a:ln>
        <a:effectLst>
          <a:softEdge rad="431800"/>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288155" y="5067300"/>
            <a:ext cx="11823700" cy="923290"/>
          </a:xfrm>
          <a:prstGeom prst="rect">
            <a:avLst/>
          </a:prstGeom>
        </p:spPr>
        <p:txBody>
          <a:bodyPr wrap="square" lIns="0" tIns="0" rIns="0" bIns="0" rtlCol="0" anchor="t">
            <a:spAutoFit/>
          </a:bodyPr>
          <a:lstStyle/>
          <a:p>
            <a:pPr algn="ctr">
              <a:lnSpc>
                <a:spcPct val="100000"/>
              </a:lnSpc>
            </a:pPr>
            <a:r>
              <a:rPr lang="en-US" sz="6000" b="1" spc="88">
                <a:solidFill>
                  <a:srgbClr val="FFFFFF"/>
                </a:solidFill>
                <a:latin typeface="+mj-lt"/>
                <a:ea typeface="Garet Ultra-Bold"/>
                <a:cs typeface="+mj-lt"/>
                <a:sym typeface="Garet Ultra-Bold"/>
              </a:rPr>
              <a:t>     </a:t>
            </a:r>
          </a:p>
        </p:txBody>
      </p:sp>
      <p:sp>
        <p:nvSpPr>
          <p:cNvPr id="4" name="TextBox 4"/>
          <p:cNvSpPr txBox="1"/>
          <p:nvPr/>
        </p:nvSpPr>
        <p:spPr>
          <a:xfrm>
            <a:off x="222621" y="9361474"/>
            <a:ext cx="2789803" cy="405765"/>
          </a:xfrm>
          <a:prstGeom prst="rect">
            <a:avLst/>
          </a:prstGeom>
        </p:spPr>
        <p:txBody>
          <a:bodyPr lIns="0" tIns="0" rIns="0" bIns="0" rtlCol="0" anchor="t">
            <a:spAutoFit/>
          </a:bodyPr>
          <a:lstStyle/>
          <a:p>
            <a:pPr algn="l">
              <a:lnSpc>
                <a:spcPts val="3165"/>
              </a:lnSpc>
            </a:pPr>
            <a:r>
              <a:rPr lang="en-US" sz="2635" b="1" spc="65">
                <a:solidFill>
                  <a:srgbClr val="FFFFFF"/>
                </a:solidFill>
                <a:ea typeface="Corporative" panose="00000500000000000000"/>
                <a:cs typeface="+mn-lt"/>
                <a:sym typeface="Corporative" panose="00000500000000000000"/>
              </a:rPr>
              <a:t>Presented by:- </a:t>
            </a:r>
          </a:p>
        </p:txBody>
      </p:sp>
      <p:sp>
        <p:nvSpPr>
          <p:cNvPr id="6" name="TextBox 6"/>
          <p:cNvSpPr txBox="1"/>
          <p:nvPr/>
        </p:nvSpPr>
        <p:spPr>
          <a:xfrm>
            <a:off x="2362185" y="9334571"/>
            <a:ext cx="3774281" cy="472440"/>
          </a:xfrm>
          <a:prstGeom prst="rect">
            <a:avLst/>
          </a:prstGeom>
        </p:spPr>
        <p:txBody>
          <a:bodyPr lIns="0" tIns="0" rIns="0" bIns="0" rtlCol="0" anchor="t">
            <a:spAutoFit/>
          </a:bodyPr>
          <a:lstStyle/>
          <a:p>
            <a:pPr algn="ctr">
              <a:lnSpc>
                <a:spcPts val="3685"/>
              </a:lnSpc>
              <a:spcBef>
                <a:spcPct val="0"/>
              </a:spcBef>
            </a:pPr>
            <a:r>
              <a:rPr lang="en-US" sz="2800">
                <a:solidFill>
                  <a:srgbClr val="FFFFFF"/>
                </a:solidFill>
                <a:ea typeface="Corporative" panose="00000500000000000000"/>
                <a:cs typeface="+mn-lt"/>
                <a:sym typeface="Corporative" panose="00000500000000000000"/>
              </a:rPr>
              <a:t>Amisha, Teesha, Sangam</a:t>
            </a:r>
          </a:p>
        </p:txBody>
      </p:sp>
      <p:pic>
        <p:nvPicPr>
          <p:cNvPr id="8" name="Picture 7" descr="amishahashmi"/>
          <p:cNvPicPr>
            <a:picLocks noChangeAspect="1"/>
          </p:cNvPicPr>
          <p:nvPr/>
        </p:nvPicPr>
        <p:blipFill>
          <a:blip r:embed="rId2"/>
          <a:stretch>
            <a:fillRect/>
          </a:stretch>
        </p:blipFill>
        <p:spPr>
          <a:xfrm>
            <a:off x="0" y="-38100"/>
            <a:ext cx="18341975" cy="10288270"/>
          </a:xfrm>
          <a:prstGeom prst="rect">
            <a:avLst/>
          </a:prstGeom>
        </p:spPr>
      </p:pic>
      <p:sp>
        <p:nvSpPr>
          <p:cNvPr id="9" name="Text Box 8"/>
          <p:cNvSpPr txBox="1"/>
          <p:nvPr/>
        </p:nvSpPr>
        <p:spPr>
          <a:xfrm>
            <a:off x="2438400" y="952500"/>
            <a:ext cx="9373235" cy="1757045"/>
          </a:xfrm>
          <a:prstGeom prst="rect">
            <a:avLst/>
          </a:prstGeom>
          <a:noFill/>
        </p:spPr>
        <p:txBody>
          <a:bodyPr wrap="square" rtlCol="0">
            <a:noAutofit/>
          </a:bodyPr>
          <a:lstStyle/>
          <a:p>
            <a:pPr algn="ctr"/>
            <a:r>
              <a:rPr lang="en-US" altLang="en-US" sz="6000">
                <a:solidFill>
                  <a:schemeClr val="accent2">
                    <a:lumMod val="50000"/>
                  </a:schemeClr>
                </a:solidFill>
              </a:rPr>
              <a:t>WOMEN AND IT’S POVERTY LEVEL IN INDIA</a:t>
            </a:r>
          </a:p>
        </p:txBody>
      </p:sp>
      <p:sp>
        <p:nvSpPr>
          <p:cNvPr id="10" name="Text Box 9"/>
          <p:cNvSpPr txBox="1"/>
          <p:nvPr/>
        </p:nvSpPr>
        <p:spPr>
          <a:xfrm>
            <a:off x="6226175" y="3494405"/>
            <a:ext cx="6096000" cy="613410"/>
          </a:xfrm>
          <a:prstGeom prst="rect">
            <a:avLst/>
          </a:prstGeom>
          <a:noFill/>
        </p:spPr>
        <p:txBody>
          <a:bodyPr wrap="square" rtlCol="0">
            <a:noAutofit/>
          </a:bodyPr>
          <a:lstStyle/>
          <a:p>
            <a:endParaRPr lang="en-US"/>
          </a:p>
        </p:txBody>
      </p:sp>
      <p:sp>
        <p:nvSpPr>
          <p:cNvPr id="11" name="Text Box 10"/>
          <p:cNvSpPr txBox="1"/>
          <p:nvPr/>
        </p:nvSpPr>
        <p:spPr>
          <a:xfrm>
            <a:off x="4800600" y="3314700"/>
            <a:ext cx="4517390" cy="1470660"/>
          </a:xfrm>
          <a:prstGeom prst="rect">
            <a:avLst/>
          </a:prstGeom>
          <a:noFill/>
        </p:spPr>
        <p:txBody>
          <a:bodyPr wrap="square" rtlCol="0">
            <a:noAutofit/>
          </a:bodyPr>
          <a:lstStyle/>
          <a:p>
            <a:pPr algn="ctr"/>
            <a:r>
              <a:rPr lang="en-US" altLang="en-US" sz="4800">
                <a:solidFill>
                  <a:schemeClr val="accent2">
                    <a:lumMod val="75000"/>
                  </a:schemeClr>
                </a:solidFill>
              </a:rPr>
              <a:t>A Step Towards Equity</a:t>
            </a:r>
          </a:p>
        </p:txBody>
      </p:sp>
      <p:sp>
        <p:nvSpPr>
          <p:cNvPr id="12" name="Text Box 11"/>
          <p:cNvSpPr txBox="1"/>
          <p:nvPr/>
        </p:nvSpPr>
        <p:spPr>
          <a:xfrm>
            <a:off x="7772400" y="9258300"/>
            <a:ext cx="4355465" cy="629285"/>
          </a:xfrm>
          <a:prstGeom prst="rect">
            <a:avLst/>
          </a:prstGeom>
          <a:noFill/>
        </p:spPr>
        <p:txBody>
          <a:bodyPr wrap="square" rtlCol="0">
            <a:noAutofit/>
          </a:bodyPr>
          <a:lstStyle/>
          <a:p>
            <a:r>
              <a:rPr lang="en-US" sz="2000">
                <a:solidFill>
                  <a:schemeClr val="accent2">
                    <a:lumMod val="75000"/>
                  </a:schemeClr>
                </a:solidFill>
              </a:rPr>
              <a:t>Presented by - Teesha, Amisha,Sangam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7" presetClass="entr" presetSubtype="4"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 calcmode="lin" valueType="num">
                                      <p:cBhvr additive="base">
                                        <p:cTn id="19" dur="5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0" dur="50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77501140d0a0bf84668f30af1ea47d0d 1234567890-poiuytfrdsaZsdfghjm"/>
          <p:cNvPicPr>
            <a:picLocks noChangeAspect="1"/>
          </p:cNvPicPr>
          <p:nvPr/>
        </p:nvPicPr>
        <p:blipFill>
          <a:blip r:embed="rId2"/>
          <a:stretch>
            <a:fillRect/>
          </a:stretch>
        </p:blipFill>
        <p:spPr>
          <a:xfrm>
            <a:off x="10767060" y="-31750"/>
            <a:ext cx="7473315" cy="10344150"/>
          </a:xfrm>
          <a:prstGeom prst="rect">
            <a:avLst/>
          </a:prstGeom>
        </p:spPr>
      </p:pic>
      <p:sp>
        <p:nvSpPr>
          <p:cNvPr id="2" name="Freeform 2"/>
          <p:cNvSpPr/>
          <p:nvPr/>
        </p:nvSpPr>
        <p:spPr>
          <a:xfrm>
            <a:off x="0" y="2324100"/>
            <a:ext cx="10751185" cy="5826760"/>
          </a:xfrm>
          <a:custGeom>
            <a:avLst/>
            <a:gdLst/>
            <a:ahLst/>
            <a:cxnLst/>
            <a:rect l="l" t="t" r="r" b="b"/>
            <a:pathLst>
              <a:path w="10552896" h="5826445">
                <a:moveTo>
                  <a:pt x="0" y="0"/>
                </a:moveTo>
                <a:lnTo>
                  <a:pt x="10552896" y="0"/>
                </a:lnTo>
                <a:lnTo>
                  <a:pt x="10552896" y="5826444"/>
                </a:lnTo>
                <a:lnTo>
                  <a:pt x="0" y="5826444"/>
                </a:lnTo>
                <a:lnTo>
                  <a:pt x="0" y="0"/>
                </a:lnTo>
                <a:close/>
              </a:path>
            </a:pathLst>
          </a:custGeom>
          <a:blipFill>
            <a:blip r:embed="rId3"/>
            <a:stretch>
              <a:fillRect t="-39078" b="-42041"/>
            </a:stretch>
          </a:blipFill>
        </p:spPr>
      </p:sp>
      <p:sp>
        <p:nvSpPr>
          <p:cNvPr id="6" name="TextBox 6"/>
          <p:cNvSpPr txBox="1"/>
          <p:nvPr/>
        </p:nvSpPr>
        <p:spPr>
          <a:xfrm>
            <a:off x="10767060" y="0"/>
            <a:ext cx="7520940" cy="2496820"/>
          </a:xfrm>
          <a:prstGeom prst="rect">
            <a:avLst/>
          </a:prstGeom>
        </p:spPr>
        <p:txBody>
          <a:bodyPr wrap="square" lIns="0" tIns="0" rIns="0" bIns="0" rtlCol="0" anchor="t">
            <a:noAutofit/>
          </a:bodyPr>
          <a:lstStyle/>
          <a:p>
            <a:pPr algn="ctr">
              <a:lnSpc>
                <a:spcPts val="7725"/>
              </a:lnSpc>
            </a:pPr>
            <a:r>
              <a:rPr lang="en-US" sz="6960" b="1">
                <a:solidFill>
                  <a:schemeClr val="tx1">
                    <a:lumMod val="95000"/>
                    <a:lumOff val="5000"/>
                  </a:schemeClr>
                </a:solidFill>
                <a:ea typeface="Garet Ultra-Bold"/>
                <a:cs typeface="+mn-lt"/>
                <a:sym typeface="Garet Ultra-Bold"/>
              </a:rPr>
              <a:t>WOMEN EMPOWERMENT</a:t>
            </a:r>
          </a:p>
        </p:txBody>
      </p:sp>
      <p:sp>
        <p:nvSpPr>
          <p:cNvPr id="7" name="TextBox 7"/>
          <p:cNvSpPr txBox="1"/>
          <p:nvPr/>
        </p:nvSpPr>
        <p:spPr>
          <a:xfrm>
            <a:off x="11353800" y="4000500"/>
            <a:ext cx="6367780" cy="5048885"/>
          </a:xfrm>
          <a:prstGeom prst="rect">
            <a:avLst/>
          </a:prstGeom>
        </p:spPr>
        <p:txBody>
          <a:bodyPr lIns="0" tIns="0" rIns="0" bIns="0" rtlCol="0" anchor="t">
            <a:noAutofit/>
          </a:bodyPr>
          <a:lstStyle/>
          <a:p>
            <a:pPr marL="601345" lvl="1" indent="-300355" algn="l">
              <a:lnSpc>
                <a:spcPts val="3895"/>
              </a:lnSpc>
              <a:buFont typeface="Arial" panose="020B0604020202020204"/>
              <a:buChar char="•"/>
            </a:pPr>
            <a:r>
              <a:rPr lang="en-US" sz="2785">
                <a:solidFill>
                  <a:schemeClr val="tx1">
                    <a:lumMod val="95000"/>
                    <a:lumOff val="5000"/>
                  </a:schemeClr>
                </a:solidFill>
                <a:ea typeface="Garet"/>
                <a:cs typeface="+mn-lt"/>
                <a:sym typeface="Garet"/>
              </a:rPr>
              <a:t>Women empowerment means giving women the right to make their own decisions and live with dignity and freedom.</a:t>
            </a:r>
          </a:p>
          <a:p>
            <a:pPr marL="601345" lvl="1" indent="-300355" algn="l">
              <a:lnSpc>
                <a:spcPts val="3895"/>
              </a:lnSpc>
              <a:buFont typeface="Arial" panose="020B0604020202020204"/>
              <a:buChar char="•"/>
            </a:pPr>
            <a:r>
              <a:rPr lang="en-US" sz="2785">
                <a:solidFill>
                  <a:schemeClr val="tx1">
                    <a:lumMod val="95000"/>
                    <a:lumOff val="5000"/>
                  </a:schemeClr>
                </a:solidFill>
                <a:ea typeface="Garet"/>
                <a:cs typeface="+mn-lt"/>
                <a:sym typeface="Garet"/>
              </a:rPr>
              <a:t>It ensures equal access to education, healthcare, employement, and participation in decision-making.</a:t>
            </a:r>
          </a:p>
          <a:p>
            <a:pPr marL="601345" lvl="1" indent="-300355" algn="l">
              <a:lnSpc>
                <a:spcPts val="3895"/>
              </a:lnSpc>
              <a:buFont typeface="Arial" panose="020B0604020202020204"/>
              <a:buChar char="•"/>
            </a:pPr>
            <a:r>
              <a:rPr lang="en-US" sz="2785">
                <a:solidFill>
                  <a:schemeClr val="tx1">
                    <a:lumMod val="95000"/>
                    <a:lumOff val="5000"/>
                  </a:schemeClr>
                </a:solidFill>
                <a:ea typeface="Garet"/>
                <a:cs typeface="+mn-lt"/>
                <a:sym typeface="Garet"/>
              </a:rPr>
              <a:t>Empowered women contribute to the progress of families, communities, and the nation.</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7" presetClass="entr" presetSubtype="4"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0" dur="50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7" presetClass="entr" presetSubtype="4"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 calcmode="lin" valueType="num">
                                      <p:cBhvr additive="base">
                                        <p:cTn id="25" dur="50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6" dur="50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custDataLst>
              <p:tags r:id="rId1"/>
            </p:custDataLst>
          </p:nvPr>
        </p:nvGrpSpPr>
        <p:grpSpPr>
          <a:xfrm>
            <a:off x="8180472" y="4303889"/>
            <a:ext cx="3615959" cy="1790605"/>
            <a:chOff x="0" y="0"/>
            <a:chExt cx="4821279" cy="2387473"/>
          </a:xfrm>
        </p:grpSpPr>
        <p:sp>
          <p:nvSpPr>
            <p:cNvPr id="3" name="TextBox 3"/>
            <p:cNvSpPr txBox="1"/>
            <p:nvPr/>
          </p:nvSpPr>
          <p:spPr>
            <a:xfrm>
              <a:off x="0" y="1879591"/>
              <a:ext cx="4821279" cy="507881"/>
            </a:xfrm>
            <a:prstGeom prst="rect">
              <a:avLst/>
            </a:prstGeom>
          </p:spPr>
          <p:txBody>
            <a:bodyPr lIns="0" tIns="0" rIns="0" bIns="0" rtlCol="0" anchor="t">
              <a:spAutoFit/>
            </a:bodyPr>
            <a:lstStyle/>
            <a:p>
              <a:pPr algn="l">
                <a:lnSpc>
                  <a:spcPts val="3220"/>
                </a:lnSpc>
              </a:pPr>
              <a:endParaRPr/>
            </a:p>
          </p:txBody>
        </p:sp>
        <p:sp>
          <p:nvSpPr>
            <p:cNvPr id="4" name="TextBox 4"/>
            <p:cNvSpPr txBox="1"/>
            <p:nvPr>
              <p:custDataLst>
                <p:tags r:id="rId8"/>
              </p:custDataLst>
            </p:nvPr>
          </p:nvSpPr>
          <p:spPr>
            <a:xfrm>
              <a:off x="0" y="-9525"/>
              <a:ext cx="4821279" cy="1420611"/>
            </a:xfrm>
            <a:prstGeom prst="rect">
              <a:avLst/>
            </a:prstGeom>
          </p:spPr>
          <p:txBody>
            <a:bodyPr lIns="0" tIns="0" rIns="0" bIns="0" rtlCol="0" anchor="t">
              <a:spAutoFit/>
            </a:bodyPr>
            <a:lstStyle/>
            <a:p>
              <a:pPr algn="l">
                <a:lnSpc>
                  <a:spcPts val="8400"/>
                </a:lnSpc>
              </a:pPr>
              <a:r>
                <a:rPr lang="en-US" sz="7000" b="1">
                  <a:solidFill>
                    <a:schemeClr val="accent2">
                      <a:lumMod val="75000"/>
                    </a:schemeClr>
                  </a:solidFill>
                  <a:latin typeface="Garet Bold"/>
                  <a:ea typeface="Garet Bold"/>
                  <a:cs typeface="Garet Bold"/>
                  <a:sym typeface="Garet Bold"/>
                </a:rPr>
                <a:t>02</a:t>
              </a:r>
            </a:p>
          </p:txBody>
        </p:sp>
      </p:grpSp>
      <p:sp>
        <p:nvSpPr>
          <p:cNvPr id="5" name="TextBox 5"/>
          <p:cNvSpPr txBox="1"/>
          <p:nvPr/>
        </p:nvSpPr>
        <p:spPr>
          <a:xfrm>
            <a:off x="2438400" y="2019300"/>
            <a:ext cx="14292580" cy="787400"/>
          </a:xfrm>
          <a:prstGeom prst="rect">
            <a:avLst/>
          </a:prstGeom>
        </p:spPr>
        <p:txBody>
          <a:bodyPr wrap="square" lIns="0" tIns="0" rIns="0" bIns="0" rtlCol="0" anchor="t">
            <a:spAutoFit/>
          </a:bodyPr>
          <a:lstStyle/>
          <a:p>
            <a:pPr algn="l">
              <a:lnSpc>
                <a:spcPts val="6140"/>
              </a:lnSpc>
            </a:pPr>
            <a:r>
              <a:rPr lang="en-US" sz="6000" b="1">
                <a:gradFill>
                  <a:gsLst>
                    <a:gs pos="50000">
                      <a:schemeClr val="accent2"/>
                    </a:gs>
                    <a:gs pos="0">
                      <a:schemeClr val="accent2">
                        <a:lumMod val="25000"/>
                        <a:lumOff val="75000"/>
                      </a:schemeClr>
                    </a:gs>
                    <a:gs pos="100000">
                      <a:schemeClr val="accent2">
                        <a:lumMod val="85000"/>
                      </a:schemeClr>
                    </a:gs>
                  </a:gsLst>
                  <a:lin ang="5400000" scaled="1"/>
                </a:gradFill>
                <a:latin typeface="+mj-lt"/>
                <a:ea typeface="Garet Ultra-Bold"/>
                <a:cs typeface="+mj-lt"/>
                <a:sym typeface="Garet Ultra-Bold"/>
              </a:rPr>
              <a:t>IMPORTANCE OF WOMEN EMPOWERMENT</a:t>
            </a:r>
          </a:p>
        </p:txBody>
      </p:sp>
      <p:sp>
        <p:nvSpPr>
          <p:cNvPr id="6" name="TextBox 6"/>
          <p:cNvSpPr txBox="1"/>
          <p:nvPr>
            <p:custDataLst>
              <p:tags r:id="rId2"/>
            </p:custDataLst>
          </p:nvPr>
        </p:nvSpPr>
        <p:spPr>
          <a:xfrm>
            <a:off x="2086207" y="4294364"/>
            <a:ext cx="3615959" cy="1067840"/>
          </a:xfrm>
          <a:prstGeom prst="rect">
            <a:avLst/>
          </a:prstGeom>
        </p:spPr>
        <p:txBody>
          <a:bodyPr lIns="0" tIns="0" rIns="0" bIns="0" rtlCol="0" anchor="t">
            <a:spAutoFit/>
          </a:bodyPr>
          <a:lstStyle/>
          <a:p>
            <a:pPr algn="l">
              <a:lnSpc>
                <a:spcPts val="8400"/>
              </a:lnSpc>
            </a:pPr>
            <a:r>
              <a:rPr lang="en-US" sz="7000" b="1">
                <a:solidFill>
                  <a:schemeClr val="accent2">
                    <a:lumMod val="75000"/>
                  </a:schemeClr>
                </a:solidFill>
                <a:latin typeface="Garet Bold"/>
                <a:ea typeface="Garet Bold"/>
                <a:cs typeface="Garet Bold"/>
                <a:sym typeface="Garet Bold"/>
              </a:rPr>
              <a:t>01</a:t>
            </a:r>
          </a:p>
        </p:txBody>
      </p:sp>
      <p:grpSp>
        <p:nvGrpSpPr>
          <p:cNvPr id="7" name="Group 7"/>
          <p:cNvGrpSpPr/>
          <p:nvPr>
            <p:custDataLst>
              <p:tags r:id="rId3"/>
            </p:custDataLst>
          </p:nvPr>
        </p:nvGrpSpPr>
        <p:grpSpPr>
          <a:xfrm>
            <a:off x="14274736" y="4303889"/>
            <a:ext cx="3615959" cy="1790605"/>
            <a:chOff x="0" y="0"/>
            <a:chExt cx="4821279" cy="2387473"/>
          </a:xfrm>
        </p:grpSpPr>
        <p:sp>
          <p:nvSpPr>
            <p:cNvPr id="8" name="TextBox 8"/>
            <p:cNvSpPr txBox="1"/>
            <p:nvPr/>
          </p:nvSpPr>
          <p:spPr>
            <a:xfrm>
              <a:off x="0" y="1879591"/>
              <a:ext cx="4821279" cy="507881"/>
            </a:xfrm>
            <a:prstGeom prst="rect">
              <a:avLst/>
            </a:prstGeom>
          </p:spPr>
          <p:txBody>
            <a:bodyPr lIns="0" tIns="0" rIns="0" bIns="0" rtlCol="0" anchor="t">
              <a:spAutoFit/>
            </a:bodyPr>
            <a:lstStyle/>
            <a:p>
              <a:pPr algn="l">
                <a:lnSpc>
                  <a:spcPts val="3220"/>
                </a:lnSpc>
              </a:pPr>
              <a:endParaRPr/>
            </a:p>
          </p:txBody>
        </p:sp>
        <p:sp>
          <p:nvSpPr>
            <p:cNvPr id="9" name="TextBox 9"/>
            <p:cNvSpPr txBox="1"/>
            <p:nvPr>
              <p:custDataLst>
                <p:tags r:id="rId7"/>
              </p:custDataLst>
            </p:nvPr>
          </p:nvSpPr>
          <p:spPr>
            <a:xfrm>
              <a:off x="0" y="-9525"/>
              <a:ext cx="4821279" cy="1420611"/>
            </a:xfrm>
            <a:prstGeom prst="rect">
              <a:avLst/>
            </a:prstGeom>
          </p:spPr>
          <p:txBody>
            <a:bodyPr lIns="0" tIns="0" rIns="0" bIns="0" rtlCol="0" anchor="t">
              <a:spAutoFit/>
            </a:bodyPr>
            <a:lstStyle/>
            <a:p>
              <a:pPr algn="l">
                <a:lnSpc>
                  <a:spcPts val="8400"/>
                </a:lnSpc>
              </a:pPr>
              <a:r>
                <a:rPr lang="en-US" sz="7000" b="1">
                  <a:solidFill>
                    <a:schemeClr val="accent2">
                      <a:lumMod val="75000"/>
                    </a:schemeClr>
                  </a:solidFill>
                  <a:latin typeface="Garet Bold"/>
                  <a:ea typeface="Garet Bold"/>
                  <a:cs typeface="Garet Bold"/>
                  <a:sym typeface="Garet Bold"/>
                </a:rPr>
                <a:t>03</a:t>
              </a:r>
            </a:p>
          </p:txBody>
        </p:sp>
      </p:grpSp>
      <p:sp>
        <p:nvSpPr>
          <p:cNvPr id="10" name="TextBox 10"/>
          <p:cNvSpPr txBox="1"/>
          <p:nvPr>
            <p:custDataLst>
              <p:tags r:id="rId4"/>
            </p:custDataLst>
          </p:nvPr>
        </p:nvSpPr>
        <p:spPr>
          <a:xfrm>
            <a:off x="691483" y="5953448"/>
            <a:ext cx="4038898" cy="2134870"/>
          </a:xfrm>
          <a:prstGeom prst="rect">
            <a:avLst/>
          </a:prstGeom>
        </p:spPr>
        <p:txBody>
          <a:bodyPr lIns="0" tIns="0" rIns="0" bIns="0" rtlCol="0" anchor="t">
            <a:spAutoFit/>
          </a:bodyPr>
          <a:lstStyle/>
          <a:p>
            <a:pPr algn="ctr">
              <a:lnSpc>
                <a:spcPts val="555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Promotes social</a:t>
            </a:r>
          </a:p>
          <a:p>
            <a:pPr algn="ctr">
              <a:lnSpc>
                <a:spcPts val="555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 and economic</a:t>
            </a:r>
          </a:p>
          <a:p>
            <a:pPr algn="ctr">
              <a:lnSpc>
                <a:spcPts val="5550"/>
              </a:lnSpc>
              <a:spcBef>
                <a:spcPct val="0"/>
              </a:spcBef>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 development</a:t>
            </a:r>
          </a:p>
        </p:txBody>
      </p:sp>
      <p:sp>
        <p:nvSpPr>
          <p:cNvPr id="11" name="TextBox 11"/>
          <p:cNvSpPr txBox="1"/>
          <p:nvPr>
            <p:custDataLst>
              <p:tags r:id="rId5"/>
            </p:custDataLst>
          </p:nvPr>
        </p:nvSpPr>
        <p:spPr>
          <a:xfrm>
            <a:off x="6623114" y="5953448"/>
            <a:ext cx="5041772" cy="2142490"/>
          </a:xfrm>
          <a:prstGeom prst="rect">
            <a:avLst/>
          </a:prstGeom>
        </p:spPr>
        <p:txBody>
          <a:bodyPr lIns="0" tIns="0" rIns="0" bIns="0" rtlCol="0" anchor="t">
            <a:spAutoFit/>
          </a:bodyPr>
          <a:lstStyle/>
          <a:p>
            <a:pPr algn="ctr">
              <a:lnSpc>
                <a:spcPts val="557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Improves literacy,</a:t>
            </a:r>
          </a:p>
          <a:p>
            <a:pPr algn="ctr">
              <a:lnSpc>
                <a:spcPts val="557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 health, and overall </a:t>
            </a:r>
          </a:p>
          <a:p>
            <a:pPr algn="ctr">
              <a:lnSpc>
                <a:spcPts val="5570"/>
              </a:lnSpc>
              <a:spcBef>
                <a:spcPct val="0"/>
              </a:spcBef>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living standards</a:t>
            </a:r>
          </a:p>
        </p:txBody>
      </p:sp>
      <p:sp>
        <p:nvSpPr>
          <p:cNvPr id="12" name="TextBox 12"/>
          <p:cNvSpPr txBox="1"/>
          <p:nvPr>
            <p:custDataLst>
              <p:tags r:id="rId6"/>
            </p:custDataLst>
          </p:nvPr>
        </p:nvSpPr>
        <p:spPr>
          <a:xfrm>
            <a:off x="12936123" y="5953448"/>
            <a:ext cx="4946381" cy="2138680"/>
          </a:xfrm>
          <a:prstGeom prst="rect">
            <a:avLst/>
          </a:prstGeom>
        </p:spPr>
        <p:txBody>
          <a:bodyPr lIns="0" tIns="0" rIns="0" bIns="0" rtlCol="0" anchor="t">
            <a:spAutoFit/>
          </a:bodyPr>
          <a:lstStyle/>
          <a:p>
            <a:pPr algn="ctr">
              <a:lnSpc>
                <a:spcPts val="556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Leads to gender</a:t>
            </a:r>
          </a:p>
          <a:p>
            <a:pPr algn="ctr">
              <a:lnSpc>
                <a:spcPts val="5560"/>
              </a:lnSpc>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 equality and</a:t>
            </a:r>
          </a:p>
          <a:p>
            <a:pPr algn="ctr">
              <a:lnSpc>
                <a:spcPts val="5560"/>
              </a:lnSpc>
              <a:spcBef>
                <a:spcPct val="0"/>
              </a:spcBef>
            </a:pPr>
            <a:r>
              <a:rPr lang="en-US" sz="4800">
                <a:solidFill>
                  <a:srgbClr val="000000"/>
                </a:solidFill>
                <a:latin typeface="Times New Roman" panose="02020603050405020304"/>
                <a:ea typeface="Times New Roman" panose="02020603050405020304"/>
                <a:cs typeface="Times New Roman" panose="02020603050405020304"/>
                <a:sym typeface="Times New Roman" panose="02020603050405020304"/>
              </a:rPr>
              <a:t> sustainable growth</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4" dur="5000" fill="hold"/>
                                        <p:tgtEl>
                                          <p:spTgt spid="10">
                                            <p:txEl>
                                              <p:pRg st="0" end="0"/>
                                            </p:txEl>
                                          </p:spTgt>
                                        </p:tgtEl>
                                        <p:attrNameLst>
                                          <p:attrName>ppt_y</p:attrName>
                                        </p:attrNameLst>
                                      </p:cBhvr>
                                      <p:tavLst>
                                        <p:tav tm="0">
                                          <p:val>
                                            <p:strVal val="1+#ppt_h/2"/>
                                          </p:val>
                                        </p:tav>
                                        <p:tav tm="100000">
                                          <p:val>
                                            <p:strVal val="#ppt_y"/>
                                          </p:val>
                                        </p:tav>
                                      </p:tavLst>
                                    </p:anim>
                                  </p:childTnLst>
                                </p:cTn>
                              </p:par>
                              <p:par>
                                <p:cTn id="15" presetID="7" presetClass="entr" presetSubtype="4" fill="hold"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 calcmode="lin" valueType="num">
                                      <p:cBhvr additive="base">
                                        <p:cTn id="17" dur="50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8" dur="5000" fill="hold"/>
                                        <p:tgtEl>
                                          <p:spTgt spid="10">
                                            <p:txEl>
                                              <p:pRg st="1" end="1"/>
                                            </p:txEl>
                                          </p:spTgt>
                                        </p:tgtEl>
                                        <p:attrNameLst>
                                          <p:attrName>ppt_y</p:attrName>
                                        </p:attrNameLst>
                                      </p:cBhvr>
                                      <p:tavLst>
                                        <p:tav tm="0">
                                          <p:val>
                                            <p:strVal val="1+#ppt_h/2"/>
                                          </p:val>
                                        </p:tav>
                                        <p:tav tm="100000">
                                          <p:val>
                                            <p:strVal val="#ppt_y"/>
                                          </p:val>
                                        </p:tav>
                                      </p:tavLst>
                                    </p:anim>
                                  </p:childTnLst>
                                </p:cTn>
                              </p:par>
                              <p:par>
                                <p:cTn id="19" presetID="7" presetClass="entr" presetSubtype="4" fill="hold" nodeType="with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 calcmode="lin" valueType="num">
                                      <p:cBhvr additive="base">
                                        <p:cTn id="21" dur="50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2" dur="50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7" presetClass="entr" presetSubtype="4"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 calcmode="lin" valueType="num">
                                      <p:cBhvr additive="base">
                                        <p:cTn id="27" dur="5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8" dur="5000" fill="hold"/>
                                        <p:tgtEl>
                                          <p:spTgt spid="11">
                                            <p:txEl>
                                              <p:pRg st="0" end="0"/>
                                            </p:txEl>
                                          </p:spTgt>
                                        </p:tgtEl>
                                        <p:attrNameLst>
                                          <p:attrName>ppt_y</p:attrName>
                                        </p:attrNameLst>
                                      </p:cBhvr>
                                      <p:tavLst>
                                        <p:tav tm="0">
                                          <p:val>
                                            <p:strVal val="1+#ppt_h/2"/>
                                          </p:val>
                                        </p:tav>
                                        <p:tav tm="100000">
                                          <p:val>
                                            <p:strVal val="#ppt_y"/>
                                          </p:val>
                                        </p:tav>
                                      </p:tavLst>
                                    </p:anim>
                                  </p:childTnLst>
                                </p:cTn>
                              </p:par>
                              <p:par>
                                <p:cTn id="29" presetID="7" presetClass="entr" presetSubtype="4" fill="hold"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 calcmode="lin" valueType="num">
                                      <p:cBhvr additive="base">
                                        <p:cTn id="31" dur="50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2" dur="5000" fill="hold"/>
                                        <p:tgtEl>
                                          <p:spTgt spid="11">
                                            <p:txEl>
                                              <p:pRg st="1" end="1"/>
                                            </p:txEl>
                                          </p:spTgt>
                                        </p:tgtEl>
                                        <p:attrNameLst>
                                          <p:attrName>ppt_y</p:attrName>
                                        </p:attrNameLst>
                                      </p:cBhvr>
                                      <p:tavLst>
                                        <p:tav tm="0">
                                          <p:val>
                                            <p:strVal val="1+#ppt_h/2"/>
                                          </p:val>
                                        </p:tav>
                                        <p:tav tm="100000">
                                          <p:val>
                                            <p:strVal val="#ppt_y"/>
                                          </p:val>
                                        </p:tav>
                                      </p:tavLst>
                                    </p:anim>
                                  </p:childTnLst>
                                </p:cTn>
                              </p:par>
                              <p:par>
                                <p:cTn id="33" presetID="7" presetClass="entr" presetSubtype="4" fill="hold" nodeType="with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anim calcmode="lin" valueType="num">
                                      <p:cBhvr additive="base">
                                        <p:cTn id="35" dur="50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6" dur="50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7" presetClass="entr" presetSubtype="4" fill="hold" nodeType="clickEffect">
                                  <p:stCondLst>
                                    <p:cond delay="0"/>
                                  </p:stCondLst>
                                  <p:childTnLst>
                                    <p:set>
                                      <p:cBhvr>
                                        <p:cTn id="40" dur="1" fill="hold">
                                          <p:stCondLst>
                                            <p:cond delay="0"/>
                                          </p:stCondLst>
                                        </p:cTn>
                                        <p:tgtEl>
                                          <p:spTgt spid="12">
                                            <p:txEl>
                                              <p:pRg st="0" end="0"/>
                                            </p:txEl>
                                          </p:spTgt>
                                        </p:tgtEl>
                                        <p:attrNameLst>
                                          <p:attrName>style.visibility</p:attrName>
                                        </p:attrNameLst>
                                      </p:cBhvr>
                                      <p:to>
                                        <p:strVal val="visible"/>
                                      </p:to>
                                    </p:set>
                                    <p:anim calcmode="lin" valueType="num">
                                      <p:cBhvr additive="base">
                                        <p:cTn id="41" dur="50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42" dur="5000" fill="hold"/>
                                        <p:tgtEl>
                                          <p:spTgt spid="12">
                                            <p:txEl>
                                              <p:pRg st="0" end="0"/>
                                            </p:txEl>
                                          </p:spTgt>
                                        </p:tgtEl>
                                        <p:attrNameLst>
                                          <p:attrName>ppt_y</p:attrName>
                                        </p:attrNameLst>
                                      </p:cBhvr>
                                      <p:tavLst>
                                        <p:tav tm="0">
                                          <p:val>
                                            <p:strVal val="1+#ppt_h/2"/>
                                          </p:val>
                                        </p:tav>
                                        <p:tav tm="100000">
                                          <p:val>
                                            <p:strVal val="#ppt_y"/>
                                          </p:val>
                                        </p:tav>
                                      </p:tavLst>
                                    </p:anim>
                                  </p:childTnLst>
                                </p:cTn>
                              </p:par>
                              <p:par>
                                <p:cTn id="43" presetID="7" presetClass="entr" presetSubtype="4" fill="hold" nodeType="withEffect">
                                  <p:stCondLst>
                                    <p:cond delay="0"/>
                                  </p:stCondLst>
                                  <p:childTnLst>
                                    <p:set>
                                      <p:cBhvr>
                                        <p:cTn id="44" dur="1" fill="hold">
                                          <p:stCondLst>
                                            <p:cond delay="0"/>
                                          </p:stCondLst>
                                        </p:cTn>
                                        <p:tgtEl>
                                          <p:spTgt spid="12">
                                            <p:txEl>
                                              <p:pRg st="1" end="1"/>
                                            </p:txEl>
                                          </p:spTgt>
                                        </p:tgtEl>
                                        <p:attrNameLst>
                                          <p:attrName>style.visibility</p:attrName>
                                        </p:attrNameLst>
                                      </p:cBhvr>
                                      <p:to>
                                        <p:strVal val="visible"/>
                                      </p:to>
                                    </p:set>
                                    <p:anim calcmode="lin" valueType="num">
                                      <p:cBhvr additive="base">
                                        <p:cTn id="45" dur="50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46" dur="5000" fill="hold"/>
                                        <p:tgtEl>
                                          <p:spTgt spid="12">
                                            <p:txEl>
                                              <p:pRg st="1" end="1"/>
                                            </p:txEl>
                                          </p:spTgt>
                                        </p:tgtEl>
                                        <p:attrNameLst>
                                          <p:attrName>ppt_y</p:attrName>
                                        </p:attrNameLst>
                                      </p:cBhvr>
                                      <p:tavLst>
                                        <p:tav tm="0">
                                          <p:val>
                                            <p:strVal val="1+#ppt_h/2"/>
                                          </p:val>
                                        </p:tav>
                                        <p:tav tm="100000">
                                          <p:val>
                                            <p:strVal val="#ppt_y"/>
                                          </p:val>
                                        </p:tav>
                                      </p:tavLst>
                                    </p:anim>
                                  </p:childTnLst>
                                </p:cTn>
                              </p:par>
                              <p:par>
                                <p:cTn id="47" presetID="7" presetClass="entr" presetSubtype="4" fill="hold" nodeType="withEffect">
                                  <p:stCondLst>
                                    <p:cond delay="0"/>
                                  </p:stCondLst>
                                  <p:childTnLst>
                                    <p:set>
                                      <p:cBhvr>
                                        <p:cTn id="48" dur="1" fill="hold">
                                          <p:stCondLst>
                                            <p:cond delay="0"/>
                                          </p:stCondLst>
                                        </p:cTn>
                                        <p:tgtEl>
                                          <p:spTgt spid="12">
                                            <p:txEl>
                                              <p:pRg st="2" end="2"/>
                                            </p:txEl>
                                          </p:spTgt>
                                        </p:tgtEl>
                                        <p:attrNameLst>
                                          <p:attrName>style.visibility</p:attrName>
                                        </p:attrNameLst>
                                      </p:cBhvr>
                                      <p:to>
                                        <p:strVal val="visible"/>
                                      </p:to>
                                    </p:set>
                                    <p:anim calcmode="lin" valueType="num">
                                      <p:cBhvr additive="base">
                                        <p:cTn id="49" dur="50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50" dur="50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10057" y="952378"/>
            <a:ext cx="10708526" cy="9311762"/>
          </a:xfrm>
          <a:custGeom>
            <a:avLst/>
            <a:gdLst/>
            <a:ahLst/>
            <a:cxnLst/>
            <a:rect l="l" t="t" r="r" b="b"/>
            <a:pathLst>
              <a:path w="10708526" h="9311762">
                <a:moveTo>
                  <a:pt x="0" y="0"/>
                </a:moveTo>
                <a:lnTo>
                  <a:pt x="10708526" y="0"/>
                </a:lnTo>
                <a:lnTo>
                  <a:pt x="10708526" y="9311762"/>
                </a:lnTo>
                <a:lnTo>
                  <a:pt x="0" y="9311762"/>
                </a:lnTo>
                <a:lnTo>
                  <a:pt x="0" y="0"/>
                </a:lnTo>
                <a:close/>
              </a:path>
            </a:pathLst>
          </a:custGeom>
          <a:blipFill>
            <a:blip r:embed="rId2">
              <a:alphaModFix amt="23000"/>
            </a:blip>
            <a:stretch>
              <a:fillRect/>
            </a:stretch>
          </a:blipFill>
        </p:spPr>
      </p:sp>
      <p:sp>
        <p:nvSpPr>
          <p:cNvPr id="3" name="TextBox 3"/>
          <p:cNvSpPr txBox="1"/>
          <p:nvPr/>
        </p:nvSpPr>
        <p:spPr>
          <a:xfrm>
            <a:off x="6019800" y="1104703"/>
            <a:ext cx="7744382" cy="2430145"/>
          </a:xfrm>
          <a:prstGeom prst="rect">
            <a:avLst/>
          </a:prstGeom>
        </p:spPr>
        <p:txBody>
          <a:bodyPr lIns="0" tIns="0" rIns="0" bIns="0" rtlCol="0" anchor="t">
            <a:spAutoFit/>
          </a:bodyPr>
          <a:lstStyle/>
          <a:p>
            <a:pPr algn="l">
              <a:lnSpc>
                <a:spcPts val="9475"/>
              </a:lnSpc>
            </a:pPr>
            <a:r>
              <a:rPr lang="en-US" sz="8540" b="1">
                <a:solidFill>
                  <a:schemeClr val="tx2">
                    <a:lumMod val="75000"/>
                  </a:schemeClr>
                </a:solidFill>
                <a:latin typeface="+mj-ea"/>
                <a:ea typeface="Garet Ultra-Bold"/>
                <a:cs typeface="+mj-ea"/>
                <a:sym typeface="Garet Ultra-Bold"/>
              </a:rPr>
              <a:t>   </a:t>
            </a:r>
            <a:r>
              <a:rPr lang="en-US" sz="8540" b="1">
                <a:solidFill>
                  <a:schemeClr val="tx2">
                    <a:lumMod val="50000"/>
                  </a:schemeClr>
                </a:solidFill>
                <a:latin typeface="+mj-ea"/>
                <a:ea typeface="Garet Ultra-Bold"/>
                <a:cs typeface="+mj-ea"/>
                <a:sym typeface="Garet Ultra-Bold"/>
              </a:rPr>
              <a:t>GENDER INEQUALITY</a:t>
            </a:r>
          </a:p>
        </p:txBody>
      </p:sp>
      <p:sp>
        <p:nvSpPr>
          <p:cNvPr id="4" name="TextBox 4"/>
          <p:cNvSpPr txBox="1"/>
          <p:nvPr/>
        </p:nvSpPr>
        <p:spPr>
          <a:xfrm>
            <a:off x="0" y="4867700"/>
            <a:ext cx="17946382" cy="3168650"/>
          </a:xfrm>
          <a:prstGeom prst="rect">
            <a:avLst/>
          </a:prstGeom>
        </p:spPr>
        <p:txBody>
          <a:bodyPr lIns="0" tIns="0" rIns="0" bIns="0" rtlCol="0" anchor="t">
            <a:spAutoFit/>
          </a:bodyPr>
          <a:lstStyle/>
          <a:p>
            <a:pPr algn="ctr">
              <a:lnSpc>
                <a:spcPts val="2675"/>
              </a:lnSpc>
            </a:pPr>
            <a:r>
              <a:rPr lang="en-US" sz="2410" b="1">
                <a:solidFill>
                  <a:schemeClr val="tx2">
                    <a:lumMod val="75000"/>
                  </a:schemeClr>
                </a:solidFill>
                <a:latin typeface="+mn-ea"/>
                <a:ea typeface="Corporative Bold" panose="00000800000000000000"/>
                <a:cs typeface="+mn-ea"/>
                <a:sym typeface="Corporative Bold" panose="00000800000000000000"/>
              </a:rPr>
              <a:t>Gender inequality refers to the unequal treatment and opportunities given to individuals based on their gender.</a:t>
            </a:r>
          </a:p>
          <a:p>
            <a:pPr algn="ctr">
              <a:lnSpc>
                <a:spcPts val="2675"/>
              </a:lnSpc>
            </a:pPr>
            <a:r>
              <a:rPr lang="en-US" sz="2410" b="1">
                <a:solidFill>
                  <a:schemeClr val="tx2">
                    <a:lumMod val="75000"/>
                  </a:schemeClr>
                </a:solidFill>
                <a:latin typeface="+mn-ea"/>
                <a:ea typeface="Corporative Bold" panose="00000800000000000000"/>
                <a:cs typeface="+mn-ea"/>
                <a:sym typeface="Corporative Bold" panose="00000800000000000000"/>
              </a:rPr>
              <a:t> In India, it is a major social issue that affects women in various aspects of life such as education, employment, health, and political participation. </a:t>
            </a:r>
          </a:p>
          <a:p>
            <a:pPr algn="ctr">
              <a:lnSpc>
                <a:spcPts val="2675"/>
              </a:lnSpc>
            </a:pPr>
            <a:r>
              <a:rPr lang="en-US" sz="2410" b="1">
                <a:solidFill>
                  <a:schemeClr val="tx2">
                    <a:lumMod val="75000"/>
                  </a:schemeClr>
                </a:solidFill>
                <a:latin typeface="+mn-ea"/>
                <a:ea typeface="Corporative Bold" panose="00000800000000000000"/>
                <a:cs typeface="+mn-ea"/>
                <a:sym typeface="Corporative Bold" panose="00000800000000000000"/>
              </a:rPr>
              <a:t>Women often face lower wages, limited access to property rights, and fewer leadership opportunities compared to men. Deep-rooted social norms, early marriages, and lack of awareness further widen this gap. Although the government has launched several schemes and awareness campaigns to promote gender equality, the mindset of society still needs change.</a:t>
            </a:r>
          </a:p>
          <a:p>
            <a:pPr algn="ctr">
              <a:lnSpc>
                <a:spcPts val="2675"/>
              </a:lnSpc>
            </a:pPr>
            <a:r>
              <a:rPr lang="en-US" sz="2410" b="1">
                <a:solidFill>
                  <a:schemeClr val="tx2">
                    <a:lumMod val="75000"/>
                  </a:schemeClr>
                </a:solidFill>
                <a:latin typeface="+mn-ea"/>
                <a:ea typeface="Corporative Bold" panose="00000800000000000000"/>
                <a:cs typeface="+mn-ea"/>
                <a:sym typeface="Corporative Bold" panose="00000800000000000000"/>
              </a:rPr>
              <a:t> True progress can only be achieved when both men and women are treated equally and given the same opportunities to grow and succeed.</a:t>
            </a:r>
          </a:p>
          <a:p>
            <a:pPr algn="ctr">
              <a:lnSpc>
                <a:spcPts val="635"/>
              </a:lnSpc>
              <a:spcBef>
                <a:spcPct val="0"/>
              </a:spcBef>
            </a:pPr>
            <a:endParaRPr lang="en-US" sz="2410" b="1">
              <a:solidFill>
                <a:schemeClr val="tx2">
                  <a:lumMod val="75000"/>
                </a:schemeClr>
              </a:solidFill>
              <a:latin typeface="+mn-ea"/>
              <a:ea typeface="Corporative Bold" panose="00000800000000000000"/>
              <a:cs typeface="+mn-ea"/>
              <a:sym typeface="Corporative Bold" panose="00000800000000000000"/>
            </a:endParaRP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0" fill="hold"/>
                                        <p:tgtEl>
                                          <p:spTgt spid="4">
                                            <p:txEl>
                                              <p:pRg st="0" end="0"/>
                                            </p:txEl>
                                          </p:spTgt>
                                        </p:tgtEl>
                                        <p:attrNameLst>
                                          <p:attrName>ppt_y</p:attrName>
                                        </p:attrNameLst>
                                      </p:cBhvr>
                                      <p:tavLst>
                                        <p:tav tm="0">
                                          <p:val>
                                            <p:strVal val="1+#ppt_h/2"/>
                                          </p:val>
                                        </p:tav>
                                        <p:tav tm="100000">
                                          <p:val>
                                            <p:strVal val="#ppt_y"/>
                                          </p:val>
                                        </p:tav>
                                      </p:tavLst>
                                    </p:anim>
                                  </p:childTnLst>
                                </p:cTn>
                              </p:par>
                              <p:par>
                                <p:cTn id="15" presetID="7" presetClass="entr" presetSubtype="4"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0" fill="hold"/>
                                        <p:tgtEl>
                                          <p:spTgt spid="4">
                                            <p:txEl>
                                              <p:pRg st="1" end="1"/>
                                            </p:txEl>
                                          </p:spTgt>
                                        </p:tgtEl>
                                        <p:attrNameLst>
                                          <p:attrName>ppt_y</p:attrName>
                                        </p:attrNameLst>
                                      </p:cBhvr>
                                      <p:tavLst>
                                        <p:tav tm="0">
                                          <p:val>
                                            <p:strVal val="1+#ppt_h/2"/>
                                          </p:val>
                                        </p:tav>
                                        <p:tav tm="100000">
                                          <p:val>
                                            <p:strVal val="#ppt_y"/>
                                          </p:val>
                                        </p:tav>
                                      </p:tavLst>
                                    </p:anim>
                                  </p:childTnLst>
                                </p:cTn>
                              </p:par>
                              <p:par>
                                <p:cTn id="19" presetID="7" presetClass="entr" presetSubtype="4"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additive="base">
                                        <p:cTn id="21" dur="5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2" dur="5000" fill="hold"/>
                                        <p:tgtEl>
                                          <p:spTgt spid="4">
                                            <p:txEl>
                                              <p:pRg st="2" end="2"/>
                                            </p:txEl>
                                          </p:spTgt>
                                        </p:tgtEl>
                                        <p:attrNameLst>
                                          <p:attrName>ppt_y</p:attrName>
                                        </p:attrNameLst>
                                      </p:cBhvr>
                                      <p:tavLst>
                                        <p:tav tm="0">
                                          <p:val>
                                            <p:strVal val="1+#ppt_h/2"/>
                                          </p:val>
                                        </p:tav>
                                        <p:tav tm="100000">
                                          <p:val>
                                            <p:strVal val="#ppt_y"/>
                                          </p:val>
                                        </p:tav>
                                      </p:tavLst>
                                    </p:anim>
                                  </p:childTnLst>
                                </p:cTn>
                              </p:par>
                              <p:par>
                                <p:cTn id="23" presetID="7" presetClass="entr" presetSubtype="4"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143500"/>
            <a:ext cx="18288000" cy="5143500"/>
            <a:chOff x="0" y="0"/>
            <a:chExt cx="4816593" cy="1354667"/>
          </a:xfrm>
        </p:grpSpPr>
        <p:sp>
          <p:nvSpPr>
            <p:cNvPr id="3" name="Freeform 3"/>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solidFill>
              <a:srgbClr val="FFFFFF"/>
            </a:solidFill>
          </p:spPr>
        </p:sp>
        <p:sp>
          <p:nvSpPr>
            <p:cNvPr id="4" name="TextBox 4"/>
            <p:cNvSpPr txBox="1"/>
            <p:nvPr/>
          </p:nvSpPr>
          <p:spPr>
            <a:xfrm>
              <a:off x="0" y="-47625"/>
              <a:ext cx="4816593" cy="1402292"/>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304800" y="495300"/>
            <a:ext cx="7446010" cy="7873365"/>
          </a:xfrm>
          <a:custGeom>
            <a:avLst/>
            <a:gdLst/>
            <a:ahLst/>
            <a:cxnLst/>
            <a:rect l="l" t="t" r="r" b="b"/>
            <a:pathLst>
              <a:path w="6240564" h="6240564">
                <a:moveTo>
                  <a:pt x="0" y="0"/>
                </a:moveTo>
                <a:lnTo>
                  <a:pt x="6240564" y="0"/>
                </a:lnTo>
                <a:lnTo>
                  <a:pt x="6240564" y="6240564"/>
                </a:lnTo>
                <a:lnTo>
                  <a:pt x="0" y="6240564"/>
                </a:lnTo>
                <a:lnTo>
                  <a:pt x="0" y="0"/>
                </a:lnTo>
                <a:close/>
              </a:path>
            </a:pathLst>
          </a:custGeom>
          <a:blipFill>
            <a:blip r:embed="rId2">
              <a:alphaModFix amt="33000"/>
            </a:blip>
            <a:stretch>
              <a:fillRect/>
            </a:stretch>
          </a:blipFill>
          <a:effectLst>
            <a:outerShdw dir="5400000" sx="103000" sy="103000" algn="ctr" rotWithShape="0">
              <a:srgbClr val="000000">
                <a:alpha val="0"/>
              </a:srgbClr>
            </a:outerShdw>
          </a:effectLst>
        </p:spPr>
      </p:sp>
      <p:sp>
        <p:nvSpPr>
          <p:cNvPr id="6" name="TextBox 6"/>
          <p:cNvSpPr txBox="1"/>
          <p:nvPr/>
        </p:nvSpPr>
        <p:spPr>
          <a:xfrm>
            <a:off x="6553200" y="114300"/>
            <a:ext cx="10664190" cy="3298190"/>
          </a:xfrm>
          <a:prstGeom prst="rect">
            <a:avLst/>
          </a:prstGeom>
        </p:spPr>
        <p:txBody>
          <a:bodyPr lIns="0" tIns="0" rIns="0" bIns="0" rtlCol="0" anchor="t">
            <a:noAutofit/>
          </a:bodyPr>
          <a:lstStyle/>
          <a:p>
            <a:pPr algn="ctr">
              <a:lnSpc>
                <a:spcPts val="13750"/>
              </a:lnSpc>
            </a:pPr>
            <a:r>
              <a:rPr lang="en-US" sz="12390" b="1" dirty="0">
                <a:solidFill>
                  <a:schemeClr val="accent2">
                    <a:lumMod val="75000"/>
                  </a:schemeClr>
                </a:solidFill>
                <a:latin typeface="+mj-lt"/>
                <a:ea typeface="Garet Ultra-Bold"/>
                <a:cs typeface="+mj-lt"/>
                <a:sym typeface="Garet Ultra-Bold"/>
              </a:rPr>
              <a:t>WOMEN </a:t>
            </a:r>
          </a:p>
          <a:p>
            <a:pPr algn="ctr">
              <a:lnSpc>
                <a:spcPts val="13750"/>
              </a:lnSpc>
            </a:pPr>
            <a:r>
              <a:rPr lang="en-US" sz="12390" b="1" dirty="0">
                <a:solidFill>
                  <a:schemeClr val="accent2">
                    <a:lumMod val="75000"/>
                  </a:schemeClr>
                </a:solidFill>
                <a:latin typeface="+mj-lt"/>
                <a:ea typeface="Garet Ultra-Bold"/>
                <a:cs typeface="+mj-lt"/>
                <a:sym typeface="Garet Ultra-Bold"/>
              </a:rPr>
              <a:t>LITERACY</a:t>
            </a:r>
          </a:p>
        </p:txBody>
      </p:sp>
      <p:sp>
        <p:nvSpPr>
          <p:cNvPr id="7" name="TextBox 7"/>
          <p:cNvSpPr txBox="1"/>
          <p:nvPr/>
        </p:nvSpPr>
        <p:spPr>
          <a:xfrm>
            <a:off x="5562600" y="3619500"/>
            <a:ext cx="12479020" cy="6535420"/>
          </a:xfrm>
          <a:prstGeom prst="rect">
            <a:avLst/>
          </a:prstGeom>
        </p:spPr>
        <p:txBody>
          <a:bodyPr lIns="0" tIns="0" rIns="0" bIns="0" rtlCol="0" anchor="t">
            <a:noAutofit/>
          </a:bodyPr>
          <a:lstStyle/>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Women literacy means the ability of women to read, write, and gain knowledge</a:t>
            </a:r>
          </a:p>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 for their personal and social development.</a:t>
            </a:r>
          </a:p>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 It plays a crucial role in empowering women and</a:t>
            </a:r>
            <a:br>
              <a:rPr lang="en-US" sz="3200" b="1" dirty="0">
                <a:solidFill>
                  <a:schemeClr val="accent2">
                    <a:lumMod val="75000"/>
                  </a:schemeClr>
                </a:solidFill>
                <a:ea typeface="Corporative Bold" panose="00000800000000000000"/>
                <a:cs typeface="+mn-lt"/>
                <a:sym typeface="Corporative Bold" panose="00000800000000000000"/>
              </a:rPr>
            </a:br>
            <a:r>
              <a:rPr lang="en-US" sz="3200" b="1" dirty="0">
                <a:solidFill>
                  <a:schemeClr val="accent2">
                    <a:lumMod val="75000"/>
                  </a:schemeClr>
                </a:solidFill>
                <a:ea typeface="Corporative Bold" panose="00000800000000000000"/>
                <a:cs typeface="+mn-lt"/>
                <a:sym typeface="Corporative Bold" panose="00000800000000000000"/>
              </a:rPr>
              <a:t> improving the overall growth of society. </a:t>
            </a:r>
          </a:p>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Educated women are more confident, aware of their rights, </a:t>
            </a:r>
            <a:br>
              <a:rPr lang="en-US" sz="3200" b="1" dirty="0">
                <a:solidFill>
                  <a:schemeClr val="accent2">
                    <a:lumMod val="75000"/>
                  </a:schemeClr>
                </a:solidFill>
                <a:ea typeface="Corporative Bold" panose="00000800000000000000"/>
                <a:cs typeface="+mn-lt"/>
                <a:sym typeface="Corporative Bold" panose="00000800000000000000"/>
              </a:rPr>
            </a:br>
            <a:r>
              <a:rPr lang="en-US" sz="3200" b="1" dirty="0">
                <a:solidFill>
                  <a:schemeClr val="accent2">
                    <a:lumMod val="75000"/>
                  </a:schemeClr>
                </a:solidFill>
                <a:ea typeface="Corporative Bold" panose="00000800000000000000"/>
                <a:cs typeface="+mn-lt"/>
                <a:sym typeface="Corporative Bold" panose="00000800000000000000"/>
              </a:rPr>
              <a:t>and capable of making</a:t>
            </a:r>
          </a:p>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 better decisions for their families and careers.</a:t>
            </a:r>
          </a:p>
          <a:p>
            <a:pPr algn="ctr">
              <a:lnSpc>
                <a:spcPct val="100000"/>
              </a:lnSpc>
            </a:pPr>
            <a:r>
              <a:rPr lang="en-US" sz="3200" b="1" dirty="0">
                <a:solidFill>
                  <a:schemeClr val="accent2">
                    <a:lumMod val="75000"/>
                  </a:schemeClr>
                </a:solidFill>
                <a:ea typeface="Corporative Bold" panose="00000800000000000000"/>
                <a:cs typeface="+mn-lt"/>
                <a:sym typeface="Corporative Bold" panose="00000800000000000000"/>
              </a:rPr>
              <a:t> Lack of education among women leads to unemployment,</a:t>
            </a:r>
            <a:br>
              <a:rPr lang="en-US" sz="3200" b="1" dirty="0">
                <a:solidFill>
                  <a:schemeClr val="accent2">
                    <a:lumMod val="75000"/>
                  </a:schemeClr>
                </a:solidFill>
                <a:ea typeface="Corporative Bold" panose="00000800000000000000"/>
                <a:cs typeface="+mn-lt"/>
                <a:sym typeface="Corporative Bold" panose="00000800000000000000"/>
              </a:rPr>
            </a:br>
            <a:r>
              <a:rPr lang="en-US" sz="3200" b="1" dirty="0">
                <a:solidFill>
                  <a:schemeClr val="accent2">
                    <a:lumMod val="75000"/>
                  </a:schemeClr>
                </a:solidFill>
                <a:ea typeface="Corporative Bold" panose="00000800000000000000"/>
                <a:cs typeface="+mn-lt"/>
                <a:sym typeface="Corporative Bold" panose="00000800000000000000"/>
              </a:rPr>
              <a:t> poverty, and gender inequality. </a:t>
            </a:r>
          </a:p>
          <a:p>
            <a:pPr algn="ctr">
              <a:lnSpc>
                <a:spcPct val="100000"/>
              </a:lnSpc>
              <a:spcBef>
                <a:spcPct val="0"/>
              </a:spcBef>
            </a:pPr>
            <a:r>
              <a:rPr lang="en-US" sz="3200" b="1" dirty="0">
                <a:solidFill>
                  <a:schemeClr val="accent2">
                    <a:lumMod val="75000"/>
                  </a:schemeClr>
                </a:solidFill>
                <a:ea typeface="Corporative Bold" panose="00000800000000000000"/>
                <a:cs typeface="+mn-lt"/>
                <a:sym typeface="Corporative Bold" panose="00000800000000000000"/>
              </a:rPr>
              <a:t>Therefore, promoting female education is essential </a:t>
            </a:r>
          </a:p>
          <a:p>
            <a:pPr algn="ctr">
              <a:lnSpc>
                <a:spcPct val="100000"/>
              </a:lnSpc>
              <a:spcBef>
                <a:spcPct val="0"/>
              </a:spcBef>
            </a:pPr>
            <a:r>
              <a:rPr lang="en-US" sz="3200" b="1" dirty="0">
                <a:solidFill>
                  <a:schemeClr val="accent2">
                    <a:lumMod val="75000"/>
                  </a:schemeClr>
                </a:solidFill>
                <a:ea typeface="Corporative Bold" panose="00000800000000000000"/>
                <a:cs typeface="+mn-lt"/>
                <a:sym typeface="Corporative Bold" panose="00000800000000000000"/>
              </a:rPr>
              <a:t>to build a balanced, progressive, and empowered nation.</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7"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7" presetClass="entr" presetSubtype="4"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 calcmode="lin" valueType="num">
                                      <p:cBhvr additive="base">
                                        <p:cTn id="17" dur="5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8" dur="5000" fill="hold"/>
                                        <p:tgtEl>
                                          <p:spTgt spid="7">
                                            <p:txEl>
                                              <p:pRg st="0" end="0"/>
                                            </p:txEl>
                                          </p:spTgt>
                                        </p:tgtEl>
                                        <p:attrNameLst>
                                          <p:attrName>ppt_y</p:attrName>
                                        </p:attrNameLst>
                                      </p:cBhvr>
                                      <p:tavLst>
                                        <p:tav tm="0">
                                          <p:val>
                                            <p:strVal val="1+#ppt_h/2"/>
                                          </p:val>
                                        </p:tav>
                                        <p:tav tm="100000">
                                          <p:val>
                                            <p:strVal val="#ppt_y"/>
                                          </p:val>
                                        </p:tav>
                                      </p:tavLst>
                                    </p:anim>
                                  </p:childTnLst>
                                </p:cTn>
                              </p:par>
                              <p:par>
                                <p:cTn id="19" presetID="7" presetClass="entr" presetSubtype="4"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 calcmode="lin" valueType="num">
                                      <p:cBhvr additive="base">
                                        <p:cTn id="21" dur="50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2" dur="5000" fill="hold"/>
                                        <p:tgtEl>
                                          <p:spTgt spid="7">
                                            <p:txEl>
                                              <p:pRg st="1" end="1"/>
                                            </p:txEl>
                                          </p:spTgt>
                                        </p:tgtEl>
                                        <p:attrNameLst>
                                          <p:attrName>ppt_y</p:attrName>
                                        </p:attrNameLst>
                                      </p:cBhvr>
                                      <p:tavLst>
                                        <p:tav tm="0">
                                          <p:val>
                                            <p:strVal val="1+#ppt_h/2"/>
                                          </p:val>
                                        </p:tav>
                                        <p:tav tm="100000">
                                          <p:val>
                                            <p:strVal val="#ppt_y"/>
                                          </p:val>
                                        </p:tav>
                                      </p:tavLst>
                                    </p:anim>
                                  </p:childTnLst>
                                </p:cTn>
                              </p:par>
                              <p:par>
                                <p:cTn id="23" presetID="7" presetClass="entr" presetSubtype="4" fill="hold"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 calcmode="lin" valueType="num">
                                      <p:cBhvr additive="base">
                                        <p:cTn id="25" dur="50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6" dur="5000" fill="hold"/>
                                        <p:tgtEl>
                                          <p:spTgt spid="7">
                                            <p:txEl>
                                              <p:pRg st="2" end="2"/>
                                            </p:txEl>
                                          </p:spTgt>
                                        </p:tgtEl>
                                        <p:attrNameLst>
                                          <p:attrName>ppt_y</p:attrName>
                                        </p:attrNameLst>
                                      </p:cBhvr>
                                      <p:tavLst>
                                        <p:tav tm="0">
                                          <p:val>
                                            <p:strVal val="1+#ppt_h/2"/>
                                          </p:val>
                                        </p:tav>
                                        <p:tav tm="100000">
                                          <p:val>
                                            <p:strVal val="#ppt_y"/>
                                          </p:val>
                                        </p:tav>
                                      </p:tavLst>
                                    </p:anim>
                                  </p:childTnLst>
                                </p:cTn>
                              </p:par>
                              <p:par>
                                <p:cTn id="27" presetID="7" presetClass="entr" presetSubtype="4" fill="hold"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0" fill="hold"/>
                                        <p:tgtEl>
                                          <p:spTgt spid="7">
                                            <p:txEl>
                                              <p:pRg st="3" end="3"/>
                                            </p:txEl>
                                          </p:spTgt>
                                        </p:tgtEl>
                                        <p:attrNameLst>
                                          <p:attrName>ppt_y</p:attrName>
                                        </p:attrNameLst>
                                      </p:cBhvr>
                                      <p:tavLst>
                                        <p:tav tm="0">
                                          <p:val>
                                            <p:strVal val="1+#ppt_h/2"/>
                                          </p:val>
                                        </p:tav>
                                        <p:tav tm="100000">
                                          <p:val>
                                            <p:strVal val="#ppt_y"/>
                                          </p:val>
                                        </p:tav>
                                      </p:tavLst>
                                    </p:anim>
                                  </p:childTnLst>
                                </p:cTn>
                              </p:par>
                              <p:par>
                                <p:cTn id="31" presetID="7" presetClass="entr" presetSubtype="4" fill="hold" nodeType="with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 calcmode="lin" valueType="num">
                                      <p:cBhvr additive="base">
                                        <p:cTn id="33" dur="50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4" dur="5000" fill="hold"/>
                                        <p:tgtEl>
                                          <p:spTgt spid="7">
                                            <p:txEl>
                                              <p:pRg st="4" end="4"/>
                                            </p:txEl>
                                          </p:spTgt>
                                        </p:tgtEl>
                                        <p:attrNameLst>
                                          <p:attrName>ppt_y</p:attrName>
                                        </p:attrNameLst>
                                      </p:cBhvr>
                                      <p:tavLst>
                                        <p:tav tm="0">
                                          <p:val>
                                            <p:strVal val="1+#ppt_h/2"/>
                                          </p:val>
                                        </p:tav>
                                        <p:tav tm="100000">
                                          <p:val>
                                            <p:strVal val="#ppt_y"/>
                                          </p:val>
                                        </p:tav>
                                      </p:tavLst>
                                    </p:anim>
                                  </p:childTnLst>
                                </p:cTn>
                              </p:par>
                              <p:par>
                                <p:cTn id="35" presetID="7" presetClass="entr" presetSubtype="4" fill="hold" nodeType="with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0" fill="hold"/>
                                        <p:tgtEl>
                                          <p:spTgt spid="7">
                                            <p:txEl>
                                              <p:pRg st="5" end="5"/>
                                            </p:txEl>
                                          </p:spTgt>
                                        </p:tgtEl>
                                        <p:attrNameLst>
                                          <p:attrName>ppt_y</p:attrName>
                                        </p:attrNameLst>
                                      </p:cBhvr>
                                      <p:tavLst>
                                        <p:tav tm="0">
                                          <p:val>
                                            <p:strVal val="1+#ppt_h/2"/>
                                          </p:val>
                                        </p:tav>
                                        <p:tav tm="100000">
                                          <p:val>
                                            <p:strVal val="#ppt_y"/>
                                          </p:val>
                                        </p:tav>
                                      </p:tavLst>
                                    </p:anim>
                                  </p:childTnLst>
                                </p:cTn>
                              </p:par>
                              <p:par>
                                <p:cTn id="39" presetID="7" presetClass="entr" presetSubtype="4" fill="hold" nodeType="with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 calcmode="lin" valueType="num">
                                      <p:cBhvr additive="base">
                                        <p:cTn id="41" dur="50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2" dur="5000" fill="hold"/>
                                        <p:tgtEl>
                                          <p:spTgt spid="7">
                                            <p:txEl>
                                              <p:pRg st="6" end="6"/>
                                            </p:txEl>
                                          </p:spTgt>
                                        </p:tgtEl>
                                        <p:attrNameLst>
                                          <p:attrName>ppt_y</p:attrName>
                                        </p:attrNameLst>
                                      </p:cBhvr>
                                      <p:tavLst>
                                        <p:tav tm="0">
                                          <p:val>
                                            <p:strVal val="1+#ppt_h/2"/>
                                          </p:val>
                                        </p:tav>
                                        <p:tav tm="100000">
                                          <p:val>
                                            <p:strVal val="#ppt_y"/>
                                          </p:val>
                                        </p:tav>
                                      </p:tavLst>
                                    </p:anim>
                                  </p:childTnLst>
                                </p:cTn>
                              </p:par>
                              <p:par>
                                <p:cTn id="43" presetID="7" presetClass="entr" presetSubtype="4" fill="hold" nodeType="with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anim calcmode="lin" valueType="num">
                                      <p:cBhvr additive="base">
                                        <p:cTn id="45" dur="50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46" dur="50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 Box 4"/>
          <p:cNvSpPr txBox="1"/>
          <p:nvPr/>
        </p:nvSpPr>
        <p:spPr>
          <a:xfrm>
            <a:off x="635" y="-33655"/>
            <a:ext cx="7263130" cy="7983220"/>
          </a:xfrm>
          <a:prstGeom prst="rect">
            <a:avLst/>
          </a:prstGeom>
          <a:noFill/>
        </p:spPr>
        <p:txBody>
          <a:bodyPr wrap="square" rtlCol="0">
            <a:noAutofit/>
          </a:bodyPr>
          <a:lstStyle/>
          <a:p>
            <a:pPr algn="l"/>
            <a:endParaRPr lang="en-US" altLang="en-US" sz="3600" dirty="0">
              <a:solidFill>
                <a:schemeClr val="tx2">
                  <a:lumMod val="75000"/>
                </a:schemeClr>
              </a:solidFill>
              <a:cs typeface="+mn-lt"/>
            </a:endParaRPr>
          </a:p>
          <a:p>
            <a:pPr marL="571500" indent="-571500" algn="l">
              <a:buFont typeface="Arial" panose="020B0604020202020204" pitchFamily="34" charset="0"/>
              <a:buChar char="•"/>
            </a:pPr>
            <a:endParaRPr lang="en-US" altLang="en-US" sz="3600" dirty="0">
              <a:solidFill>
                <a:schemeClr val="tx2">
                  <a:lumMod val="75000"/>
                </a:schemeClr>
              </a:solidFill>
              <a:cs typeface="+mn-lt"/>
            </a:endParaRPr>
          </a:p>
          <a:p>
            <a:pPr marL="571500" indent="-571500" algn="l">
              <a:buFont typeface="Arial" panose="020B0604020202020204" pitchFamily="34" charset="0"/>
              <a:buChar char="•"/>
            </a:pPr>
            <a:r>
              <a:rPr lang="en-US" altLang="en-US" sz="3600" dirty="0">
                <a:solidFill>
                  <a:schemeClr val="tx2">
                    <a:lumMod val="75000"/>
                  </a:schemeClr>
                </a:solidFill>
                <a:cs typeface="+mn-lt"/>
              </a:rPr>
              <a:t>Gender inequality in India has gradually decreased over the past few Years due to Improved Education, Employment, and Empowerment Opportunities for Women.</a:t>
            </a:r>
          </a:p>
          <a:p>
            <a:pPr marL="571500" indent="-571500" algn="l">
              <a:buFont typeface="Arial" panose="020B0604020202020204" pitchFamily="34" charset="0"/>
              <a:buChar char="•"/>
            </a:pPr>
            <a:endParaRPr lang="en-US" altLang="en-US" sz="3600" dirty="0">
              <a:solidFill>
                <a:schemeClr val="tx2">
                  <a:lumMod val="75000"/>
                </a:schemeClr>
              </a:solidFill>
              <a:cs typeface="+mn-lt"/>
            </a:endParaRPr>
          </a:p>
          <a:p>
            <a:pPr marL="571500" indent="-571500" algn="l">
              <a:buFont typeface="Arial" panose="020B0604020202020204" pitchFamily="34" charset="0"/>
              <a:buChar char="•"/>
            </a:pPr>
            <a:endParaRPr lang="en-US" altLang="en-US" sz="3600" dirty="0">
              <a:solidFill>
                <a:schemeClr val="tx2">
                  <a:lumMod val="75000"/>
                </a:schemeClr>
              </a:solidFill>
              <a:cs typeface="+mn-lt"/>
            </a:endParaRPr>
          </a:p>
          <a:p>
            <a:pPr marL="571500" indent="-571500" algn="l">
              <a:buFont typeface="Arial" panose="020B0604020202020204" pitchFamily="34" charset="0"/>
              <a:buChar char="•"/>
            </a:pPr>
            <a:endParaRPr lang="en-US" altLang="en-US" sz="3600" dirty="0">
              <a:solidFill>
                <a:schemeClr val="tx2">
                  <a:lumMod val="75000"/>
                </a:schemeClr>
              </a:solidFill>
              <a:cs typeface="+mn-lt"/>
            </a:endParaRPr>
          </a:p>
          <a:p>
            <a:pPr marL="571500" indent="-571500" algn="l">
              <a:buFont typeface="Arial" panose="020B0604020202020204" pitchFamily="34" charset="0"/>
              <a:buChar char="•"/>
            </a:pPr>
            <a:r>
              <a:rPr lang="en-US" altLang="en-US" sz="3600" dirty="0">
                <a:solidFill>
                  <a:schemeClr val="tx2">
                    <a:lumMod val="75000"/>
                  </a:schemeClr>
                </a:solidFill>
                <a:cs typeface="+mn-lt"/>
              </a:rPr>
              <a:t>With continued focus on Empowerment, Skill training, and Equality, India can further reduce gender gaps and lift more Women out of poverty in the coming years.</a:t>
            </a:r>
          </a:p>
          <a:p>
            <a:pPr indent="0" algn="l">
              <a:buFont typeface="Arial" panose="020B0604020202020204" pitchFamily="34" charset="0"/>
              <a:buNone/>
            </a:pPr>
            <a:endParaRPr lang="en-US" altLang="en-US" sz="3600" dirty="0">
              <a:solidFill>
                <a:schemeClr val="tx2">
                  <a:lumMod val="75000"/>
                </a:schemeClr>
              </a:solidFill>
              <a:cs typeface="+mn-lt"/>
            </a:endParaRPr>
          </a:p>
        </p:txBody>
      </p:sp>
      <p:graphicFrame>
        <p:nvGraphicFramePr>
          <p:cNvPr id="8" name="Chart 7">
            <a:extLst>
              <a:ext uri="{FF2B5EF4-FFF2-40B4-BE49-F238E27FC236}">
                <a16:creationId xmlns:a16="http://schemas.microsoft.com/office/drawing/2014/main" id="{49BFF43D-9094-D3E2-21F7-121AB034CAA4}"/>
              </a:ext>
            </a:extLst>
          </p:cNvPr>
          <p:cNvGraphicFramePr/>
          <p:nvPr>
            <p:extLst>
              <p:ext uri="{D42A27DB-BD31-4B8C-83A1-F6EECF244321}">
                <p14:modId xmlns:p14="http://schemas.microsoft.com/office/powerpoint/2010/main" val="3957135037"/>
              </p:ext>
            </p:extLst>
          </p:nvPr>
        </p:nvGraphicFramePr>
        <p:xfrm>
          <a:off x="9753600" y="1587500"/>
          <a:ext cx="7263130" cy="7112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5" name="Picture 4" descr="pintrest picture"/>
          <p:cNvPicPr>
            <a:picLocks noChangeAspect="1"/>
          </p:cNvPicPr>
          <p:nvPr/>
        </p:nvPicPr>
        <p:blipFill>
          <a:blip r:embed="rId2"/>
          <a:stretch>
            <a:fillRect/>
          </a:stretch>
        </p:blipFill>
        <p:spPr>
          <a:xfrm>
            <a:off x="15240" y="-38100"/>
            <a:ext cx="18273395" cy="10300970"/>
          </a:xfrm>
          <a:prstGeom prst="rect">
            <a:avLst/>
          </a:prstGeom>
        </p:spPr>
      </p:pic>
      <p:sp>
        <p:nvSpPr>
          <p:cNvPr id="6" name="Text Box 5"/>
          <p:cNvSpPr txBox="1"/>
          <p:nvPr/>
        </p:nvSpPr>
        <p:spPr>
          <a:xfrm>
            <a:off x="1981200" y="0"/>
            <a:ext cx="14199870" cy="3614420"/>
          </a:xfrm>
          <a:prstGeom prst="rect">
            <a:avLst/>
          </a:prstGeom>
          <a:noFill/>
        </p:spPr>
        <p:txBody>
          <a:bodyPr wrap="square" rtlCol="0">
            <a:noAutofit/>
          </a:bodyPr>
          <a:lstStyle/>
          <a:p>
            <a:pPr marL="285750" indent="-285750" algn="ctr">
              <a:buFont typeface="Arial" panose="020B0604020202020204" pitchFamily="34" charset="0"/>
              <a:buChar char="•"/>
            </a:pPr>
            <a:r>
              <a:rPr lang="en-US" altLang="en-US" sz="3200">
                <a:solidFill>
                  <a:schemeClr val="accent2">
                    <a:lumMod val="75000"/>
                  </a:schemeClr>
                </a:solidFill>
              </a:rPr>
              <a:t>“When women rise, families and nations rise with them.”</a:t>
            </a:r>
          </a:p>
          <a:p>
            <a:pPr marL="285750" indent="-285750" algn="ctr">
              <a:buFont typeface="Arial" panose="020B0604020202020204" pitchFamily="34" charset="0"/>
              <a:buChar char="•"/>
            </a:pPr>
            <a:endParaRPr lang="en-US" altLang="en-US" sz="3200">
              <a:solidFill>
                <a:schemeClr val="accent2">
                  <a:lumMod val="75000"/>
                </a:schemeClr>
              </a:solidFill>
            </a:endParaRPr>
          </a:p>
          <a:p>
            <a:pPr marL="285750" indent="-285750" algn="ctr">
              <a:buFont typeface="Arial" panose="020B0604020202020204" pitchFamily="34" charset="0"/>
              <a:buChar char="•"/>
            </a:pPr>
            <a:r>
              <a:rPr lang="en-US" altLang="en-US" sz="3200">
                <a:solidFill>
                  <a:schemeClr val="accent2">
                    <a:lumMod val="75000"/>
                  </a:schemeClr>
                </a:solidFill>
              </a:rPr>
              <a:t>A gender-equal India needs equal access, inclusion, and respect.</a:t>
            </a:r>
          </a:p>
          <a:p>
            <a:pPr marL="285750" indent="-285750" algn="ctr">
              <a:buFont typeface="Arial" panose="020B0604020202020204" pitchFamily="34" charset="0"/>
              <a:buChar char="•"/>
            </a:pPr>
            <a:endParaRPr lang="en-US" altLang="en-US" sz="3200">
              <a:solidFill>
                <a:schemeClr val="accent2">
                  <a:lumMod val="75000"/>
                </a:schemeClr>
              </a:solidFill>
            </a:endParaRPr>
          </a:p>
          <a:p>
            <a:pPr marL="285750" indent="-285750" algn="ctr">
              <a:buFont typeface="Arial" panose="020B0604020202020204" pitchFamily="34" charset="0"/>
              <a:buChar char="•"/>
            </a:pPr>
            <a:r>
              <a:rPr lang="en-US" altLang="en-US" sz="3200">
                <a:solidFill>
                  <a:schemeClr val="accent2">
                    <a:lumMod val="75000"/>
                  </a:schemeClr>
                </a:solidFill>
              </a:rPr>
              <a:t>Poverty among women is a social justice issue.</a:t>
            </a:r>
          </a:p>
          <a:p>
            <a:pPr marL="285750" indent="-285750" algn="ctr">
              <a:buFont typeface="Arial" panose="020B0604020202020204" pitchFamily="34" charset="0"/>
              <a:buChar char="•"/>
            </a:pPr>
            <a:endParaRPr lang="en-US" altLang="en-US" sz="3200">
              <a:solidFill>
                <a:schemeClr val="accent2">
                  <a:lumMod val="75000"/>
                </a:schemeClr>
              </a:solidFill>
            </a:endParaRPr>
          </a:p>
          <a:p>
            <a:pPr marL="285750" indent="-285750" algn="ctr">
              <a:buFont typeface="Arial" panose="020B0604020202020204" pitchFamily="34" charset="0"/>
              <a:buChar char="•"/>
            </a:pPr>
            <a:r>
              <a:rPr lang="en-US" altLang="en-US" sz="3200">
                <a:solidFill>
                  <a:schemeClr val="accent2">
                    <a:lumMod val="75000"/>
                  </a:schemeClr>
                </a:solidFill>
              </a:rPr>
              <a:t>Together, we can bridge the gap through awareness and policy</a:t>
            </a:r>
            <a:r>
              <a:rPr lang="en-US" altLang="en-US">
                <a:solidFill>
                  <a:schemeClr val="accent2">
                    <a:lumMod val="75000"/>
                  </a:schemeClr>
                </a:solidFill>
              </a:rPr>
              <a:t>.</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7"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7"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5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5000" fill="hold"/>
                                        <p:tgtEl>
                                          <p:spTgt spid="6">
                                            <p:txEl>
                                              <p:pRg st="4" end="4"/>
                                            </p:txEl>
                                          </p:spTgt>
                                        </p:tgtEl>
                                        <p:attrNameLst>
                                          <p:attrName>ppt_y</p:attrName>
                                        </p:attrNameLst>
                                      </p:cBhvr>
                                      <p:tavLst>
                                        <p:tav tm="0">
                                          <p:val>
                                            <p:strVal val="1+#ppt_h/2"/>
                                          </p:val>
                                        </p:tav>
                                        <p:tav tm="100000">
                                          <p:val>
                                            <p:strVal val="#ppt_y"/>
                                          </p:val>
                                        </p:tav>
                                      </p:tavLst>
                                    </p:anim>
                                  </p:childTnLst>
                                </p:cTn>
                              </p:par>
                              <p:par>
                                <p:cTn id="17" presetID="7" presetClass="entr" presetSubtype="4"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 calcmode="lin" valueType="num">
                                      <p:cBhvr additive="base">
                                        <p:cTn id="19" dur="50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0" dur="50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mishahashmi"/>
          <p:cNvPicPr>
            <a:picLocks noChangeAspect="1"/>
          </p:cNvPicPr>
          <p:nvPr/>
        </p:nvPicPr>
        <p:blipFill>
          <a:blip r:embed="rId2"/>
          <a:stretch>
            <a:fillRect/>
          </a:stretch>
        </p:blipFill>
        <p:spPr>
          <a:xfrm>
            <a:off x="-315595" y="-123825"/>
            <a:ext cx="18604230" cy="10381615"/>
          </a:xfrm>
          <a:prstGeom prst="rect">
            <a:avLst/>
          </a:prstGeom>
        </p:spPr>
      </p:pic>
      <p:sp>
        <p:nvSpPr>
          <p:cNvPr id="3" name="Text Box 2"/>
          <p:cNvSpPr txBox="1"/>
          <p:nvPr/>
        </p:nvSpPr>
        <p:spPr>
          <a:xfrm>
            <a:off x="4419600" y="4762500"/>
            <a:ext cx="6700520" cy="1368425"/>
          </a:xfrm>
          <a:prstGeom prst="rect">
            <a:avLst/>
          </a:prstGeom>
          <a:noFill/>
        </p:spPr>
        <p:txBody>
          <a:bodyPr wrap="square" rtlCol="0">
            <a:noAutofit/>
          </a:bodyPr>
          <a:lstStyle/>
          <a:p>
            <a:pPr algn="ctr"/>
            <a:r>
              <a:rPr lang="en-US" altLang="en-US" sz="8800">
                <a:solidFill>
                  <a:schemeClr val="accent2">
                    <a:lumMod val="75000"/>
                  </a:schemeClr>
                </a:solidFill>
              </a:rPr>
              <a:t>Thank you </a:t>
            </a:r>
            <a:endParaRPr lang="en-US" sz="8800">
              <a:solidFill>
                <a:schemeClr val="accent2">
                  <a:lumMod val="75000"/>
                </a:schemeClr>
              </a:solidFill>
            </a:endParaRPr>
          </a:p>
        </p:txBody>
      </p:sp>
      <p:sp>
        <p:nvSpPr>
          <p:cNvPr id="4" name="Text Box 3"/>
          <p:cNvSpPr txBox="1"/>
          <p:nvPr/>
        </p:nvSpPr>
        <p:spPr>
          <a:xfrm>
            <a:off x="76200" y="342900"/>
            <a:ext cx="8633460" cy="1753235"/>
          </a:xfrm>
          <a:prstGeom prst="rect">
            <a:avLst/>
          </a:prstGeom>
          <a:noFill/>
        </p:spPr>
        <p:txBody>
          <a:bodyPr wrap="square" rtlCol="0">
            <a:spAutoFit/>
          </a:bodyPr>
          <a:lstStyle/>
          <a:p>
            <a:pPr algn="ctr"/>
            <a:r>
              <a:rPr lang="en-US" sz="5400"/>
              <a:t>“Awake, Arise and Educate</a:t>
            </a:r>
            <a:br>
              <a:rPr lang="en-US" sz="5400"/>
            </a:br>
            <a:r>
              <a:rPr lang="en-US" sz="5400"/>
              <a:t>Smash Traditions, Liberate”</a:t>
            </a:r>
          </a:p>
        </p:txBody>
      </p:sp>
      <p:sp>
        <p:nvSpPr>
          <p:cNvPr id="5" name="Text Box 4"/>
          <p:cNvSpPr txBox="1"/>
          <p:nvPr/>
        </p:nvSpPr>
        <p:spPr>
          <a:xfrm>
            <a:off x="5943600" y="2019300"/>
            <a:ext cx="2875280" cy="583565"/>
          </a:xfrm>
          <a:prstGeom prst="rect">
            <a:avLst/>
          </a:prstGeom>
          <a:noFill/>
        </p:spPr>
        <p:txBody>
          <a:bodyPr wrap="square" rtlCol="0">
            <a:spAutoFit/>
          </a:bodyPr>
          <a:lstStyle/>
          <a:p>
            <a:r>
              <a:rPr lang="en-US" sz="3200" i="1"/>
              <a:t>Savitribai Phule</a:t>
            </a:r>
          </a:p>
        </p:txBody>
      </p:sp>
      <p:sp>
        <p:nvSpPr>
          <p:cNvPr id="6" name="Text Box 5"/>
          <p:cNvSpPr txBox="1"/>
          <p:nvPr/>
        </p:nvSpPr>
        <p:spPr>
          <a:xfrm>
            <a:off x="5802630" y="2705100"/>
            <a:ext cx="3935095" cy="460375"/>
          </a:xfrm>
          <a:prstGeom prst="rect">
            <a:avLst/>
          </a:prstGeom>
          <a:noFill/>
        </p:spPr>
        <p:txBody>
          <a:bodyPr wrap="square" rtlCol="0">
            <a:spAutoFit/>
          </a:bodyPr>
          <a:lstStyle/>
          <a:p>
            <a:r>
              <a:rPr lang="en-US" sz="2400" i="1"/>
              <a:t>India’s First Female Teacher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99.33653543307094,&quot;left&quot;:54.4474803149606,&quot;top&quot;:338.13889763779525,&quot;width&quot;:1354.2686614173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478</Words>
  <Application>Microsoft Office PowerPoint</Application>
  <PresentationFormat>Custom</PresentationFormat>
  <Paragraphs>57</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Garet Bold</vt:lpstr>
      <vt:lpstr>Calibri</vt:lpstr>
      <vt:lpstr>Corporative Bold</vt:lpstr>
      <vt:lpstr>Corporative</vt:lpstr>
      <vt:lpstr>Times New Roman</vt:lpstr>
      <vt:lpstr>Garet Ultra-Bold</vt:lpstr>
      <vt:lpstr>Arial Black</vt:lpstr>
      <vt:lpstr>Garet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 EMPOWERMWNT</dc:title>
  <dc:creator>DIPESH</dc:creator>
  <cp:lastModifiedBy>DIPESH PAUDEL</cp:lastModifiedBy>
  <cp:revision>7</cp:revision>
  <dcterms:created xsi:type="dcterms:W3CDTF">2006-08-16T00:00:00Z</dcterms:created>
  <dcterms:modified xsi:type="dcterms:W3CDTF">2025-11-05T07:33:05Z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0D666BAB445F4970AB5775EACD73E55E_13</vt:lpwstr>
  </property>
  <property fmtid="{D5CDD505-2E9C-101B-9397-08002B2CF9AE}" pid="3" name="KSOProductBuildVer">
    <vt:lpwstr>1033-12.2.0.23155</vt:lpwstr>
  </property>
</Properties>
</file>